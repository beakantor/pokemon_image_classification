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1" r:id="rId6"/>
    <p:sldId id="262" r:id="rId7"/>
    <p:sldId id="259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51" y="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AA857166-A416-4C5E-8AA9-5D5D1E13D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0" y="0"/>
            <a:ext cx="3463118" cy="6858000"/>
          </a:xfrm>
          <a:prstGeom prst="rect">
            <a:avLst/>
          </a:prstGeom>
          <a:ln>
            <a:noFill/>
          </a:ln>
          <a:effectLst>
            <a:outerShdw blurRad="203200" dist="88900" dir="21540000" sx="94000" sy="94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0" y="-1"/>
            <a:ext cx="3463118" cy="5136739"/>
          </a:xfrm>
          <a:prstGeom prst="rect">
            <a:avLst/>
          </a:prstGeom>
          <a:ln>
            <a:noFill/>
          </a:ln>
          <a:effectLst>
            <a:outerShdw blurRad="177800" dist="101600" dir="5400000" sx="97000" sy="97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665" y="617921"/>
            <a:ext cx="2611531" cy="3988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Clasificarea imaginilor Pokémon</a:t>
            </a:r>
          </a:p>
        </p:txBody>
      </p:sp>
      <p:pic>
        <p:nvPicPr>
          <p:cNvPr id="5" name="Content Placeholder 4" descr="A cartoon of a yellow animal&#10;&#10;AI-generated content may be incorrect.">
            <a:extLst>
              <a:ext uri="{FF2B5EF4-FFF2-40B4-BE49-F238E27FC236}">
                <a16:creationId xmlns:a16="http://schemas.microsoft.com/office/drawing/2014/main" id="{738F9DF5-BE0E-001C-46B2-5170EE0B9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9358" y="889060"/>
            <a:ext cx="4807469" cy="5169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2532"/>
            <a:ext cx="8229600" cy="2677510"/>
          </a:xfrm>
        </p:spPr>
        <p:txBody>
          <a:bodyPr/>
          <a:lstStyle/>
          <a:p>
            <a:r>
              <a:rPr dirty="0"/>
              <a:t>Scop: </a:t>
            </a:r>
            <a:r>
              <a:rPr dirty="0" err="1"/>
              <a:t>clasificarea</a:t>
            </a:r>
            <a:r>
              <a:rPr dirty="0"/>
              <a:t> </a:t>
            </a:r>
            <a:r>
              <a:rPr dirty="0" err="1"/>
              <a:t>imaginilor</a:t>
            </a:r>
            <a:r>
              <a:rPr dirty="0"/>
              <a:t> Pokémon </a:t>
            </a:r>
            <a:r>
              <a:rPr dirty="0" err="1"/>
              <a:t>în</a:t>
            </a:r>
            <a:r>
              <a:rPr dirty="0"/>
              <a:t> </a:t>
            </a:r>
            <a:r>
              <a:rPr dirty="0" err="1"/>
              <a:t>peste</a:t>
            </a:r>
            <a:r>
              <a:rPr dirty="0"/>
              <a:t> 150 de </a:t>
            </a:r>
            <a:r>
              <a:rPr dirty="0" err="1"/>
              <a:t>clase</a:t>
            </a:r>
            <a:r>
              <a:rPr dirty="0"/>
              <a:t>.</a:t>
            </a:r>
          </a:p>
          <a:p>
            <a:r>
              <a:rPr dirty="0"/>
              <a:t> Dataset Kaggle: ~8000 </a:t>
            </a:r>
            <a:r>
              <a:rPr dirty="0" err="1"/>
              <a:t>imagini</a:t>
            </a:r>
            <a:r>
              <a:rPr dirty="0"/>
              <a:t>.</a:t>
            </a:r>
          </a:p>
          <a:p>
            <a:r>
              <a:rPr dirty="0"/>
              <a:t> </a:t>
            </a:r>
            <a:r>
              <a:rPr dirty="0" err="1"/>
              <a:t>Imagini</a:t>
            </a:r>
            <a:r>
              <a:rPr dirty="0"/>
              <a:t> variate, </a:t>
            </a:r>
            <a:r>
              <a:rPr dirty="0" err="1"/>
              <a:t>stiluri</a:t>
            </a:r>
            <a:r>
              <a:rPr dirty="0"/>
              <a:t> </a:t>
            </a:r>
            <a:r>
              <a:rPr dirty="0" err="1"/>
              <a:t>diferite</a:t>
            </a:r>
            <a:r>
              <a:rPr dirty="0"/>
              <a:t>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99AFB-13BA-736F-B168-2A0673C96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4997"/>
            <a:ext cx="9144000" cy="3922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483A-17A4-68CD-AEDE-28845DFB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Preprocesare</a:t>
            </a:r>
            <a:r>
              <a:rPr lang="ro-RO" dirty="0"/>
              <a:t>a</a:t>
            </a:r>
            <a:r>
              <a:rPr lang="en-US" dirty="0"/>
              <a:t> </a:t>
            </a:r>
            <a:r>
              <a:rPr lang="ro-RO" dirty="0"/>
              <a:t>și integrarea modelelor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FAFDE-3B4D-F496-1E7E-AA04D74F9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Filtrare imagini (JPG, JPEG, PNG)</a:t>
            </a:r>
          </a:p>
          <a:p>
            <a:r>
              <a:rPr lang="ro-RO" dirty="0"/>
              <a:t>Data split 80/20</a:t>
            </a:r>
          </a:p>
          <a:p>
            <a:r>
              <a:rPr lang="ro-RO" dirty="0"/>
              <a:t>Pentru </a:t>
            </a:r>
            <a:r>
              <a:rPr lang="ro-RO" dirty="0" err="1"/>
              <a:t>RandomForest</a:t>
            </a:r>
            <a:r>
              <a:rPr lang="ro-RO" dirty="0"/>
              <a:t> și SVC:</a:t>
            </a:r>
          </a:p>
          <a:p>
            <a:pPr lvl="1"/>
            <a:r>
              <a:rPr lang="ro-RO" dirty="0"/>
              <a:t>Imagini (32x32)</a:t>
            </a:r>
          </a:p>
          <a:p>
            <a:pPr lvl="1"/>
            <a:r>
              <a:rPr lang="ro-RO" dirty="0"/>
              <a:t>Vectori 1D prin </a:t>
            </a:r>
            <a:r>
              <a:rPr lang="ro-RO" dirty="0" err="1"/>
              <a:t>Flatten</a:t>
            </a:r>
            <a:endParaRPr lang="ro-RO" dirty="0"/>
          </a:p>
          <a:p>
            <a:pPr marL="514350" indent="-457200"/>
            <a:r>
              <a:rPr lang="ro-RO" dirty="0"/>
              <a:t>Pentru CNN și MobileNetV2</a:t>
            </a:r>
          </a:p>
          <a:p>
            <a:pPr marL="914400" lvl="1" indent="-457200"/>
            <a:r>
              <a:rPr lang="ro-RO" dirty="0" err="1"/>
              <a:t>ImageDataGenerator</a:t>
            </a:r>
            <a:endParaRPr lang="ro-RO" dirty="0"/>
          </a:p>
          <a:p>
            <a:pPr marL="914400" lvl="1" indent="-457200"/>
            <a:r>
              <a:rPr lang="ro-RO" dirty="0" err="1"/>
              <a:t>Augumentare</a:t>
            </a:r>
            <a:endParaRPr lang="ro-RO" dirty="0"/>
          </a:p>
          <a:p>
            <a:pPr marL="914400" lvl="1" indent="-457200"/>
            <a:r>
              <a:rPr lang="ro-RO" dirty="0"/>
              <a:t>Formă de tensor 3D (H, W, C)</a:t>
            </a:r>
            <a:endParaRPr lang="en-US" dirty="0"/>
          </a:p>
        </p:txBody>
      </p:sp>
      <p:pic>
        <p:nvPicPr>
          <p:cNvPr id="5" name="Picture 4" descr="A cartoon of a blue alien&#10;&#10;AI-generated content may be incorrect.">
            <a:extLst>
              <a:ext uri="{FF2B5EF4-FFF2-40B4-BE49-F238E27FC236}">
                <a16:creationId xmlns:a16="http://schemas.microsoft.com/office/drawing/2014/main" id="{19900809-D86A-174B-8ED7-671D346DC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20" y="2397291"/>
            <a:ext cx="2592805" cy="259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5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Modele &amp; Metode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Modele</a:t>
            </a:r>
            <a:r>
              <a:rPr dirty="0"/>
              <a:t> ML </a:t>
            </a:r>
            <a:r>
              <a:rPr dirty="0" err="1"/>
              <a:t>tradiționale</a:t>
            </a:r>
            <a:r>
              <a:rPr dirty="0"/>
              <a:t>:</a:t>
            </a:r>
          </a:p>
          <a:p>
            <a:r>
              <a:rPr dirty="0"/>
              <a:t> </a:t>
            </a:r>
            <a:r>
              <a:rPr dirty="0" err="1"/>
              <a:t>RandomForest</a:t>
            </a:r>
            <a:endParaRPr dirty="0"/>
          </a:p>
          <a:p>
            <a:r>
              <a:rPr dirty="0"/>
              <a:t> SVC (kernel RBF)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C65FA-C7DD-F77D-8E00-E6FCFB6B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13" y="4945213"/>
            <a:ext cx="4577874" cy="730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6350FB-FFDD-EA20-7551-FFCE238C5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13" y="4016839"/>
            <a:ext cx="4876124" cy="645757"/>
          </a:xfrm>
          <a:prstGeom prst="rect">
            <a:avLst/>
          </a:prstGeom>
        </p:spPr>
      </p:pic>
      <p:pic>
        <p:nvPicPr>
          <p:cNvPr id="9" name="Picture 8" descr="A cartoon of a white seal&#10;&#10;AI-generated content may be incorrect.">
            <a:extLst>
              <a:ext uri="{FF2B5EF4-FFF2-40B4-BE49-F238E27FC236}">
                <a16:creationId xmlns:a16="http://schemas.microsoft.com/office/drawing/2014/main" id="{A9A56A34-F4F8-C3A6-7858-23DED9A36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603" y="4016839"/>
            <a:ext cx="2447925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B0B0-030C-79B4-1C07-EA6274C3B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2163"/>
            <a:ext cx="8229600" cy="22360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Modele</a:t>
            </a:r>
            <a:r>
              <a:rPr lang="en-US" dirty="0"/>
              <a:t> Deep Learning: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CNN </a:t>
            </a:r>
            <a:r>
              <a:rPr lang="en-US" dirty="0" err="1"/>
              <a:t>simplu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7D6FB8-DDA7-9A87-D824-5543614B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507"/>
            <a:ext cx="9144000" cy="3620601"/>
          </a:xfrm>
          <a:prstGeom prst="rect">
            <a:avLst/>
          </a:prstGeom>
        </p:spPr>
      </p:pic>
      <p:pic>
        <p:nvPicPr>
          <p:cNvPr id="7" name="Picture 6" descr="Cartoon of a monster&#10;&#10;AI-generated content may be incorrect.">
            <a:extLst>
              <a:ext uri="{FF2B5EF4-FFF2-40B4-BE49-F238E27FC236}">
                <a16:creationId xmlns:a16="http://schemas.microsoft.com/office/drawing/2014/main" id="{7EFA8C25-8EE4-9F69-2B52-9FB014FD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4" y="31533"/>
            <a:ext cx="1575346" cy="157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45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998C-A177-8DB1-D8FA-973AE1EC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89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 MobileNetV2 </a:t>
            </a:r>
            <a:br>
              <a:rPr lang="en-US" dirty="0"/>
            </a:br>
            <a:r>
              <a:rPr lang="en-US" dirty="0"/>
              <a:t>(transfer learning + fine-tuning)</a:t>
            </a:r>
            <a:br>
              <a:rPr lang="en-US" dirty="0"/>
            </a:b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883B0-D592-4F14-C97A-6544D1909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11928"/>
            <a:ext cx="8229600" cy="3228809"/>
          </a:xfrm>
          <a:prstGeom prst="rect">
            <a:avLst/>
          </a:prstGeom>
        </p:spPr>
      </p:pic>
      <p:pic>
        <p:nvPicPr>
          <p:cNvPr id="7" name="Picture 6" descr="Cartoon animal with orange fur and brown tail&#10;&#10;AI-generated content may be incorrect.">
            <a:extLst>
              <a:ext uri="{FF2B5EF4-FFF2-40B4-BE49-F238E27FC236}">
                <a16:creationId xmlns:a16="http://schemas.microsoft.com/office/drawing/2014/main" id="{1E12D5F5-6376-C988-3109-744D8C20C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508" y="4940737"/>
            <a:ext cx="1984492" cy="191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73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artoon of a blue and white dragon&#10;&#10;AI-generated content may be incorrect.">
            <a:extLst>
              <a:ext uri="{FF2B5EF4-FFF2-40B4-BE49-F238E27FC236}">
                <a16:creationId xmlns:a16="http://schemas.microsoft.com/office/drawing/2014/main" id="{4B4932CA-B03B-A398-B19E-226CF53A6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084" y="4961920"/>
            <a:ext cx="1834916" cy="1896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Rezultate Obținute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B145DE-FFC8-5D8B-4975-FC2F51FC5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02" y="1417638"/>
            <a:ext cx="7451983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Concluzii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- </a:t>
            </a:r>
            <a:r>
              <a:rPr dirty="0" err="1"/>
              <a:t>Modelele</a:t>
            </a:r>
            <a:r>
              <a:rPr dirty="0"/>
              <a:t> </a:t>
            </a:r>
            <a:r>
              <a:rPr dirty="0" err="1"/>
              <a:t>clasice</a:t>
            </a:r>
            <a:r>
              <a:rPr dirty="0"/>
              <a:t> nu </a:t>
            </a:r>
            <a:r>
              <a:rPr dirty="0" err="1"/>
              <a:t>performează</a:t>
            </a:r>
            <a:r>
              <a:rPr dirty="0"/>
              <a:t> bine pe </a:t>
            </a:r>
            <a:r>
              <a:rPr dirty="0" err="1"/>
              <a:t>imagini</a:t>
            </a:r>
            <a:r>
              <a:rPr dirty="0"/>
              <a:t> </a:t>
            </a:r>
            <a:r>
              <a:rPr dirty="0" err="1"/>
              <a:t>complexe</a:t>
            </a:r>
            <a:r>
              <a:rPr dirty="0"/>
              <a:t>.</a:t>
            </a:r>
          </a:p>
          <a:p>
            <a:r>
              <a:rPr dirty="0"/>
              <a:t>- CNN </a:t>
            </a:r>
            <a:r>
              <a:rPr dirty="0" err="1"/>
              <a:t>simplu</a:t>
            </a:r>
            <a:r>
              <a:rPr dirty="0"/>
              <a:t> </a:t>
            </a:r>
            <a:r>
              <a:rPr dirty="0" err="1"/>
              <a:t>oferă</a:t>
            </a:r>
            <a:r>
              <a:rPr dirty="0"/>
              <a:t> </a:t>
            </a:r>
            <a:r>
              <a:rPr dirty="0" err="1"/>
              <a:t>rezultate</a:t>
            </a:r>
            <a:r>
              <a:rPr dirty="0"/>
              <a:t> </a:t>
            </a:r>
            <a:r>
              <a:rPr dirty="0" err="1"/>
              <a:t>mai</a:t>
            </a:r>
            <a:r>
              <a:rPr dirty="0"/>
              <a:t> </a:t>
            </a:r>
            <a:r>
              <a:rPr dirty="0" err="1"/>
              <a:t>bune</a:t>
            </a:r>
            <a:r>
              <a:rPr dirty="0"/>
              <a:t>.</a:t>
            </a:r>
          </a:p>
          <a:p>
            <a:r>
              <a:rPr dirty="0"/>
              <a:t>- Transfer learning (MobileNetV2) produce </a:t>
            </a:r>
            <a:r>
              <a:rPr dirty="0" err="1"/>
              <a:t>performanțe</a:t>
            </a:r>
            <a:r>
              <a:rPr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Posibile</a:t>
            </a:r>
            <a:r>
              <a:rPr dirty="0"/>
              <a:t> </a:t>
            </a:r>
            <a:r>
              <a:rPr dirty="0" err="1"/>
              <a:t>îmbunătățiri</a:t>
            </a:r>
            <a:r>
              <a:rPr dirty="0"/>
              <a:t>: </a:t>
            </a:r>
            <a:r>
              <a:rPr dirty="0" err="1"/>
              <a:t>modele</a:t>
            </a:r>
            <a:r>
              <a:rPr dirty="0"/>
              <a:t> </a:t>
            </a:r>
            <a:r>
              <a:rPr dirty="0" err="1"/>
              <a:t>mai</a:t>
            </a:r>
            <a:r>
              <a:rPr dirty="0"/>
              <a:t> </a:t>
            </a:r>
            <a:r>
              <a:rPr dirty="0" err="1"/>
              <a:t>mari</a:t>
            </a:r>
            <a:r>
              <a:rPr dirty="0"/>
              <a:t>, </a:t>
            </a:r>
            <a:r>
              <a:rPr dirty="0" err="1"/>
              <a:t>mai</a:t>
            </a:r>
            <a:r>
              <a:rPr dirty="0"/>
              <a:t> </a:t>
            </a:r>
            <a:r>
              <a:rPr dirty="0" err="1"/>
              <a:t>multă</a:t>
            </a:r>
            <a:r>
              <a:rPr dirty="0"/>
              <a:t> </a:t>
            </a:r>
            <a:r>
              <a:rPr dirty="0" err="1"/>
              <a:t>augmentare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Picture 4" descr="A cartoon of a cat with blue bows&#10;&#10;AI-generated content may be incorrect.">
            <a:extLst>
              <a:ext uri="{FF2B5EF4-FFF2-40B4-BE49-F238E27FC236}">
                <a16:creationId xmlns:a16="http://schemas.microsoft.com/office/drawing/2014/main" id="{CCFC9153-1982-E5EC-6A1D-D8E3C6C8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4" y="127597"/>
            <a:ext cx="1807779" cy="2030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D3FF-41B9-0041-AE6E-3B74D8078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11" y="3031959"/>
            <a:ext cx="8229600" cy="1143000"/>
          </a:xfrm>
        </p:spPr>
        <p:txBody>
          <a:bodyPr/>
          <a:lstStyle/>
          <a:p>
            <a:r>
              <a:rPr lang="ro-RO" dirty="0"/>
              <a:t>Mulțumesc pentru atenție!</a:t>
            </a:r>
            <a:endParaRPr lang="en-US" dirty="0"/>
          </a:p>
        </p:txBody>
      </p:sp>
      <p:pic>
        <p:nvPicPr>
          <p:cNvPr id="5" name="Picture 4" descr="A cartoon of a pink animal&#10;&#10;AI-generated content may be incorrect.">
            <a:extLst>
              <a:ext uri="{FF2B5EF4-FFF2-40B4-BE49-F238E27FC236}">
                <a16:creationId xmlns:a16="http://schemas.microsoft.com/office/drawing/2014/main" id="{2698A29E-29B5-9010-C59D-FBC40041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4571"/>
            <a:ext cx="2378242" cy="2423429"/>
          </a:xfrm>
          <a:prstGeom prst="rect">
            <a:avLst/>
          </a:prstGeom>
        </p:spPr>
      </p:pic>
      <p:pic>
        <p:nvPicPr>
          <p:cNvPr id="7" name="Picture 6" descr="Cartoon of a blue and white animal&#10;&#10;AI-generated content may be incorrect.">
            <a:extLst>
              <a:ext uri="{FF2B5EF4-FFF2-40B4-BE49-F238E27FC236}">
                <a16:creationId xmlns:a16="http://schemas.microsoft.com/office/drawing/2014/main" id="{FE55FB5A-E0D9-4C77-5231-9CBE3AE1A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526" y="351482"/>
            <a:ext cx="2249423" cy="233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90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162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Clasificarea imaginilor Pokémon</vt:lpstr>
      <vt:lpstr>PowerPoint Presentation</vt:lpstr>
      <vt:lpstr>Preprocesarea și integrarea modelelor</vt:lpstr>
      <vt:lpstr>Modele &amp; Metode</vt:lpstr>
      <vt:lpstr>PowerPoint Presentation</vt:lpstr>
      <vt:lpstr> MobileNetV2  (transfer learning + fine-tuning) </vt:lpstr>
      <vt:lpstr>Rezultate Obținute</vt:lpstr>
      <vt:lpstr>Concluzii</vt:lpstr>
      <vt:lpstr>Mulțumesc pentru atenție!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Beata Kantor</cp:lastModifiedBy>
  <cp:revision>4</cp:revision>
  <dcterms:created xsi:type="dcterms:W3CDTF">2013-01-27T09:14:16Z</dcterms:created>
  <dcterms:modified xsi:type="dcterms:W3CDTF">2025-12-04T15:41:38Z</dcterms:modified>
  <cp:category/>
</cp:coreProperties>
</file>